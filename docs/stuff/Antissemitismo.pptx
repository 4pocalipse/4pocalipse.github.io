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64" r:id="rId3"/>
    <p:sldId id="265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1278A-8D4C-43D8-83E9-F6950A8E778F}" type="datetimeFigureOut">
              <a:rPr lang="pt-BR" smtClean="0"/>
              <a:t>30/03/2022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A7E36D45-F854-4EBD-9DE7-5824973E1F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5198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1278A-8D4C-43D8-83E9-F6950A8E778F}" type="datetimeFigureOut">
              <a:rPr lang="pt-BR" smtClean="0"/>
              <a:t>30/03/2022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36D45-F854-4EBD-9DE7-5824973E1F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933404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1278A-8D4C-43D8-83E9-F6950A8E778F}" type="datetimeFigureOut">
              <a:rPr lang="pt-BR" smtClean="0"/>
              <a:t>30/03/2022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7E36D45-F854-4EBD-9DE7-5824973E1F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659324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1278A-8D4C-43D8-83E9-F6950A8E778F}" type="datetimeFigureOut">
              <a:rPr lang="pt-BR" smtClean="0"/>
              <a:t>30/03/2022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A7E36D45-F854-4EBD-9DE7-5824973E1F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3617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1278A-8D4C-43D8-83E9-F6950A8E778F}" type="datetimeFigureOut">
              <a:rPr lang="pt-BR" smtClean="0"/>
              <a:t>30/03/2022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A7E36D45-F854-4EBD-9DE7-5824973E1F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07433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1278A-8D4C-43D8-83E9-F6950A8E778F}" type="datetimeFigureOut">
              <a:rPr lang="pt-BR" smtClean="0"/>
              <a:t>30/03/2022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36D45-F854-4EBD-9DE7-5824973E1F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15314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1278A-8D4C-43D8-83E9-F6950A8E778F}" type="datetimeFigureOut">
              <a:rPr lang="pt-BR" smtClean="0"/>
              <a:t>30/03/2022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36D45-F854-4EBD-9DE7-5824973E1F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67342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1278A-8D4C-43D8-83E9-F6950A8E778F}" type="datetimeFigureOut">
              <a:rPr lang="pt-BR" smtClean="0"/>
              <a:t>30/03/2022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36D45-F854-4EBD-9DE7-5824973E1F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21659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1278A-8D4C-43D8-83E9-F6950A8E778F}" type="datetimeFigureOut">
              <a:rPr lang="pt-BR" smtClean="0"/>
              <a:t>30/03/2022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7E36D45-F854-4EBD-9DE7-5824973E1F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69211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1278A-8D4C-43D8-83E9-F6950A8E778F}" type="datetimeFigureOut">
              <a:rPr lang="pt-BR" smtClean="0"/>
              <a:t>30/03/2022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7E36D45-F854-4EBD-9DE7-5824973E1F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64639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1278A-8D4C-43D8-83E9-F6950A8E778F}" type="datetimeFigureOut">
              <a:rPr lang="pt-BR" smtClean="0"/>
              <a:t>30/03/2022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7E36D45-F854-4EBD-9DE7-5824973E1F92}" type="slidenum">
              <a:rPr lang="pt-BR" smtClean="0"/>
              <a:t>‹nº›</a:t>
            </a:fld>
            <a:endParaRPr lang="pt-BR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85634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1278A-8D4C-43D8-83E9-F6950A8E778F}" type="datetimeFigureOut">
              <a:rPr lang="pt-BR" smtClean="0"/>
              <a:t>30/03/2022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7E36D45-F854-4EBD-9DE7-5824973E1F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26832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1278A-8D4C-43D8-83E9-F6950A8E778F}" type="datetimeFigureOut">
              <a:rPr lang="pt-BR" smtClean="0"/>
              <a:t>30/03/2022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7E36D45-F854-4EBD-9DE7-5824973E1F92}" type="slidenum">
              <a:rPr lang="pt-BR" smtClean="0"/>
              <a:t>‹nº›</a:t>
            </a:fld>
            <a:endParaRPr lang="pt-BR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310226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1278A-8D4C-43D8-83E9-F6950A8E778F}" type="datetimeFigureOut">
              <a:rPr lang="pt-BR" smtClean="0"/>
              <a:t>30/03/2022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7E36D45-F854-4EBD-9DE7-5824973E1F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30298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1278A-8D4C-43D8-83E9-F6950A8E778F}" type="datetimeFigureOut">
              <a:rPr lang="pt-BR" smtClean="0"/>
              <a:t>30/03/2022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36D45-F854-4EBD-9DE7-5824973E1F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28456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1278A-8D4C-43D8-83E9-F6950A8E778F}" type="datetimeFigureOut">
              <a:rPr lang="pt-BR" smtClean="0"/>
              <a:t>30/03/2022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36D45-F854-4EBD-9DE7-5824973E1F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052084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41278A-8D4C-43D8-83E9-F6950A8E778F}" type="datetimeFigureOut">
              <a:rPr lang="pt-BR" smtClean="0"/>
              <a:t>30/03/2022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A7E36D45-F854-4EBD-9DE7-5824973E1F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377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46F774-49B2-4479-81EB-B49F283302A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Antissemitismo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9CD31E6-0127-4149-BAD2-AD53FCCB090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Fabrício</a:t>
            </a:r>
            <a:r>
              <a:rPr lang="en-US" dirty="0"/>
              <a:t>; Nicolas; </a:t>
            </a:r>
            <a:r>
              <a:rPr lang="en-US" dirty="0" err="1"/>
              <a:t>Pierry</a:t>
            </a:r>
            <a:r>
              <a:rPr lang="en-US" dirty="0"/>
              <a:t>; Vitor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59346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912B83-F8DD-4732-9CFD-0DFFF86E2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Introdução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F986CB9-AF6C-4E30-B606-CB543ADA2B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Depois de Cristo, a Igreja Cristã se tornou dominante, e com isso seus líderes criaram leis que tinham como objetivo: perseguir e tirar a Liberdade dos judeus. Com isso, os judeus foram obrigados a deixar a sociedade Europeia, porém, quando era conveniente para os opressores, eles eram “parcialmente tolerados”, já que mesmo estando a margem da sociedade Europeia, os judeus desenvolviam funções econômicas fundamentais para a estrutura econômica medieval, com comércios e trocas de bens.</a:t>
            </a:r>
          </a:p>
        </p:txBody>
      </p:sp>
    </p:spTree>
    <p:extLst>
      <p:ext uri="{BB962C8B-B14F-4D97-AF65-F5344CB8AC3E}">
        <p14:creationId xmlns:p14="http://schemas.microsoft.com/office/powerpoint/2010/main" val="7567825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912B83-F8DD-4732-9CFD-0DFFF86E2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Introdução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F986CB9-AF6C-4E30-B606-CB543ADA2B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Essas</a:t>
            </a:r>
            <a:r>
              <a:rPr lang="en-US" dirty="0"/>
              <a:t> </a:t>
            </a:r>
            <a:r>
              <a:rPr lang="en-US" dirty="0" err="1"/>
              <a:t>trocas</a:t>
            </a:r>
            <a:r>
              <a:rPr lang="en-US" dirty="0"/>
              <a:t> de bens </a:t>
            </a:r>
            <a:r>
              <a:rPr lang="en-US" dirty="0" err="1"/>
              <a:t>ocasionaram</a:t>
            </a:r>
            <a:r>
              <a:rPr lang="en-US" dirty="0"/>
              <a:t> </a:t>
            </a:r>
            <a:r>
              <a:rPr lang="en-US" dirty="0" err="1"/>
              <a:t>revoltas</a:t>
            </a:r>
            <a:r>
              <a:rPr lang="en-US" dirty="0"/>
              <a:t> pela </a:t>
            </a:r>
            <a:r>
              <a:rPr lang="en-US" dirty="0" err="1"/>
              <a:t>parte</a:t>
            </a:r>
            <a:r>
              <a:rPr lang="en-US" dirty="0"/>
              <a:t> dos </a:t>
            </a:r>
            <a:r>
              <a:rPr lang="en-US" dirty="0" err="1"/>
              <a:t>cristãos</a:t>
            </a:r>
            <a:r>
              <a:rPr lang="en-US" dirty="0"/>
              <a:t>, pois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tipo</a:t>
            </a:r>
            <a:r>
              <a:rPr lang="en-US" dirty="0"/>
              <a:t> de </a:t>
            </a:r>
            <a:r>
              <a:rPr lang="en-US" dirty="0" err="1"/>
              <a:t>troca</a:t>
            </a:r>
            <a:r>
              <a:rPr lang="en-US" dirty="0"/>
              <a:t> de bens era </a:t>
            </a:r>
            <a:r>
              <a:rPr lang="en-US" dirty="0" err="1"/>
              <a:t>considerado</a:t>
            </a:r>
            <a:r>
              <a:rPr lang="en-US" dirty="0"/>
              <a:t> </a:t>
            </a:r>
            <a:r>
              <a:rPr lang="en-US" dirty="0" err="1"/>
              <a:t>pecado</a:t>
            </a:r>
            <a:r>
              <a:rPr lang="en-US" dirty="0"/>
              <a:t> e </a:t>
            </a:r>
            <a:r>
              <a:rPr lang="en-US" dirty="0" err="1"/>
              <a:t>isso</a:t>
            </a:r>
            <a:r>
              <a:rPr lang="en-US" dirty="0"/>
              <a:t> </a:t>
            </a:r>
            <a:r>
              <a:rPr lang="en-US" dirty="0" err="1"/>
              <a:t>levou</a:t>
            </a:r>
            <a:r>
              <a:rPr lang="en-US" dirty="0"/>
              <a:t> à </a:t>
            </a:r>
            <a:r>
              <a:rPr lang="en-US" dirty="0" err="1"/>
              <a:t>expulsão</a:t>
            </a:r>
            <a:r>
              <a:rPr lang="en-US" dirty="0"/>
              <a:t> </a:t>
            </a:r>
            <a:r>
              <a:rPr lang="en-US" dirty="0" err="1"/>
              <a:t>forçada</a:t>
            </a:r>
            <a:r>
              <a:rPr lang="en-US" dirty="0"/>
              <a:t> de </a:t>
            </a:r>
            <a:r>
              <a:rPr lang="en-US" dirty="0" err="1"/>
              <a:t>judeus</a:t>
            </a:r>
            <a:r>
              <a:rPr lang="en-US" dirty="0"/>
              <a:t> de </a:t>
            </a:r>
            <a:r>
              <a:rPr lang="en-US" dirty="0" err="1"/>
              <a:t>muitos</a:t>
            </a:r>
            <a:r>
              <a:rPr lang="en-US" dirty="0"/>
              <a:t> </a:t>
            </a:r>
            <a:r>
              <a:rPr lang="en-US" dirty="0" err="1"/>
              <a:t>países</a:t>
            </a:r>
            <a:r>
              <a:rPr lang="en-US" dirty="0"/>
              <a:t> </a:t>
            </a:r>
            <a:r>
              <a:rPr lang="en-US" dirty="0" err="1"/>
              <a:t>durante</a:t>
            </a:r>
            <a:r>
              <a:rPr lang="en-US" dirty="0"/>
              <a:t> a </a:t>
            </a:r>
            <a:r>
              <a:rPr lang="en-US" dirty="0" err="1"/>
              <a:t>Idade</a:t>
            </a:r>
            <a:r>
              <a:rPr lang="en-US" dirty="0"/>
              <a:t> </a:t>
            </a:r>
            <a:r>
              <a:rPr lang="en-US" dirty="0" err="1"/>
              <a:t>Média</a:t>
            </a:r>
            <a:r>
              <a:rPr lang="en-US" dirty="0"/>
              <a:t>.</a:t>
            </a:r>
          </a:p>
          <a:p>
            <a:r>
              <a:rPr lang="en-US" dirty="0"/>
              <a:t>Dessa forma, o </a:t>
            </a:r>
            <a:r>
              <a:rPr lang="en-US" dirty="0" err="1"/>
              <a:t>povo</a:t>
            </a:r>
            <a:r>
              <a:rPr lang="en-US" dirty="0"/>
              <a:t> </a:t>
            </a:r>
            <a:r>
              <a:rPr lang="en-US" dirty="0" err="1"/>
              <a:t>judeu</a:t>
            </a:r>
            <a:r>
              <a:rPr lang="en-US" dirty="0"/>
              <a:t> se </a:t>
            </a:r>
            <a:r>
              <a:rPr lang="en-US" dirty="0" err="1"/>
              <a:t>transformou</a:t>
            </a:r>
            <a:r>
              <a:rPr lang="en-US" dirty="0"/>
              <a:t> num “bode </a:t>
            </a:r>
            <a:r>
              <a:rPr lang="en-US" dirty="0" err="1"/>
              <a:t>expiatório</a:t>
            </a:r>
            <a:r>
              <a:rPr lang="en-US" dirty="0"/>
              <a:t>”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muitos</a:t>
            </a:r>
            <a:r>
              <a:rPr lang="en-US" dirty="0"/>
              <a:t> </a:t>
            </a:r>
            <a:r>
              <a:rPr lang="en-US" dirty="0" err="1"/>
              <a:t>episódios</a:t>
            </a:r>
            <a:r>
              <a:rPr lang="en-US" dirty="0"/>
              <a:t> da </a:t>
            </a:r>
            <a:r>
              <a:rPr lang="en-US" dirty="0" err="1"/>
              <a:t>nossa</a:t>
            </a:r>
            <a:r>
              <a:rPr lang="en-US" dirty="0"/>
              <a:t> </a:t>
            </a:r>
            <a:r>
              <a:rPr lang="en-US" dirty="0" err="1"/>
              <a:t>história</a:t>
            </a:r>
            <a:r>
              <a:rPr lang="en-US" dirty="0"/>
              <a:t>, </a:t>
            </a:r>
            <a:r>
              <a:rPr lang="en-US" dirty="0" err="1"/>
              <a:t>sendo</a:t>
            </a:r>
            <a:r>
              <a:rPr lang="en-US" dirty="0"/>
              <a:t> o </a:t>
            </a:r>
            <a:r>
              <a:rPr lang="en-US" dirty="0" err="1"/>
              <a:t>mais</a:t>
            </a:r>
            <a:r>
              <a:rPr lang="en-US" dirty="0"/>
              <a:t> cruel o </a:t>
            </a:r>
            <a:r>
              <a:rPr lang="en-US" dirty="0" err="1"/>
              <a:t>Holocausto</a:t>
            </a:r>
            <a:r>
              <a:rPr lang="en-US" dirty="0"/>
              <a:t>, </a:t>
            </a:r>
            <a:r>
              <a:rPr lang="en-US" dirty="0" err="1"/>
              <a:t>durante</a:t>
            </a:r>
            <a:r>
              <a:rPr lang="en-US" dirty="0"/>
              <a:t> a Segunda Guerra Mundial.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864020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8FAFE2-4CB2-48C9-A72D-5C8404CEE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Etimologia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34ED0FB-FA16-4FCC-A97E-B708A0B7F6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pt-BR" dirty="0"/>
              <a:t>pesar da diferença ser somente no prefixo “</a:t>
            </a:r>
            <a:r>
              <a:rPr lang="pt-BR" dirty="0" err="1"/>
              <a:t>anti</a:t>
            </a:r>
            <a:r>
              <a:rPr lang="pt-BR" dirty="0"/>
              <a:t>”, os termos “semita” e “antissemita” não são diretamente opostos. O antissemitismo está relacionado especificamente ao preconceito contra judeus em geral, apesar desse termo ser utilizado em algumas situações para expressar o ódio a outros povos falantes de idiomas semitas.</a:t>
            </a:r>
          </a:p>
        </p:txBody>
      </p:sp>
      <p:pic>
        <p:nvPicPr>
          <p:cNvPr id="1026" name="Picture 2" descr="Antissemitismo: o que é, origem, história, atualmente">
            <a:extLst>
              <a:ext uri="{FF2B5EF4-FFF2-40B4-BE49-F238E27FC236}">
                <a16:creationId xmlns:a16="http://schemas.microsoft.com/office/drawing/2014/main" id="{CD77B8F8-4447-4244-82F1-95F433A9E8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6005" y="3765779"/>
            <a:ext cx="3241813" cy="2636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88134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8FAFE2-4CB2-48C9-A72D-5C8404CEE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Etimologia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34ED0FB-FA16-4FCC-A97E-B708A0B7F6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Segundo a</a:t>
            </a:r>
            <a:r>
              <a:rPr lang="pt-BR" dirty="0"/>
              <a:t> Bíblia, os semitas seriam os descendentes de Sem, filho mais velho de Noé. Este grupo étnico e linguístico compreende os hebreus.</a:t>
            </a:r>
          </a:p>
          <a:p>
            <a:r>
              <a:rPr lang="pt-BR" dirty="0"/>
              <a:t>A palavra ‘</a:t>
            </a:r>
            <a:r>
              <a:rPr lang="pt-BR" dirty="0" err="1"/>
              <a:t>antisemitismus</a:t>
            </a:r>
            <a:r>
              <a:rPr lang="pt-BR" dirty="0"/>
              <a:t>’ foi utilizada pela primeira vez no Alemão, no século XIX, numa época em que a ciência racial estava na moda na Alemanha, e foi utilizada pela primeira vez já com o sentido de ódio aos judeus, por soar mais científica que “</a:t>
            </a:r>
            <a:r>
              <a:rPr lang="pt-BR" dirty="0" err="1"/>
              <a:t>Judenhass</a:t>
            </a:r>
            <a:r>
              <a:rPr lang="pt-BR" dirty="0"/>
              <a:t>” (“ódio aos judeus”).	</a:t>
            </a:r>
          </a:p>
        </p:txBody>
      </p:sp>
    </p:spTree>
    <p:extLst>
      <p:ext uri="{BB962C8B-B14F-4D97-AF65-F5344CB8AC3E}">
        <p14:creationId xmlns:p14="http://schemas.microsoft.com/office/powerpoint/2010/main" val="37245940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5D7398-E44A-40B3-80D6-A193C13F0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Contexto</a:t>
            </a:r>
            <a:r>
              <a:rPr lang="en-US" dirty="0"/>
              <a:t> </a:t>
            </a:r>
            <a:r>
              <a:rPr lang="en-US" dirty="0" err="1"/>
              <a:t>Histórico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5AC672C-8698-4D6E-9CE5-511F315E7D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</a:t>
            </a:r>
            <a:r>
              <a:rPr lang="pt-BR" dirty="0"/>
              <a:t>obre o antissemitismo, uma coisa é certa, ele está longe de ser um fenômeno contemporâneo. Desde a captura de Jerusalém pelo imperador Tito em 70 d.C., a condição dos judeus (principalmente na Europa) nunca deixou de envolver a exclusão, sofrimento e perseguição.</a:t>
            </a:r>
          </a:p>
          <a:p>
            <a:r>
              <a:rPr lang="pt-BR" dirty="0"/>
              <a:t>Desde esse período, conhecemos três principais formas de antissemitismo: religioso, nacionalista e racial.</a:t>
            </a:r>
          </a:p>
        </p:txBody>
      </p:sp>
      <p:pic>
        <p:nvPicPr>
          <p:cNvPr id="1026" name="Picture 2" descr="Arco de Tito – Wikipédia, a enciclopédia livre">
            <a:extLst>
              <a:ext uri="{FF2B5EF4-FFF2-40B4-BE49-F238E27FC236}">
                <a16:creationId xmlns:a16="http://schemas.microsoft.com/office/drawing/2014/main" id="{B8020EFB-F659-405A-8C04-80F99F3B8B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0318" y="4121426"/>
            <a:ext cx="2650543" cy="2456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23336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6BBA73-C1AB-47C8-85C3-16A7A7580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Contexto</a:t>
            </a:r>
            <a:r>
              <a:rPr lang="en-US" dirty="0"/>
              <a:t> </a:t>
            </a:r>
            <a:r>
              <a:rPr lang="en-US" dirty="0" err="1"/>
              <a:t>Histórico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6794B09-6246-4E35-A85A-F7AEDC212E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forma religiosa do </a:t>
            </a:r>
            <a:r>
              <a:rPr lang="pt-BR" dirty="0"/>
              <a:t>antissemitismo</a:t>
            </a:r>
            <a:r>
              <a:rPr lang="en-US" dirty="0"/>
              <a:t> </a:t>
            </a:r>
            <a:r>
              <a:rPr lang="en-US" dirty="0" err="1"/>
              <a:t>existe</a:t>
            </a:r>
            <a:r>
              <a:rPr lang="pt-BR" dirty="0"/>
              <a:t> desde o Édito de Milão, do imperador Constantino, que reconheceu o cristianismo como religião oficial no ano de 313. Desde esse período, o antissemitismo sempre se alimentou do ódio ao “povo que matou Jesus Cristo”.</a:t>
            </a:r>
          </a:p>
          <a:p>
            <a:r>
              <a:rPr lang="pt-BR" dirty="0"/>
              <a:t>Durante períodos de perseguição e genocídio, algumas vezes oferecia-se aos judeus a chance de escapar da morte através da conversão forçada, ainda que eles voltassem a se tornar judeus em épocas menos cruéis.</a:t>
            </a:r>
          </a:p>
        </p:txBody>
      </p:sp>
      <p:pic>
        <p:nvPicPr>
          <p:cNvPr id="2050" name="Picture 2" descr="Édito de Milão – Wikipédia, a enciclopédia livre">
            <a:extLst>
              <a:ext uri="{FF2B5EF4-FFF2-40B4-BE49-F238E27FC236}">
                <a16:creationId xmlns:a16="http://schemas.microsoft.com/office/drawing/2014/main" id="{D712D86A-A76D-4F9B-941A-B39AD077CE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040" y="4312476"/>
            <a:ext cx="3579743" cy="23864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85935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E4E7CD-162F-4216-9B59-63F9C6DB1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Contexto</a:t>
            </a:r>
            <a:r>
              <a:rPr lang="en-US" dirty="0"/>
              <a:t> </a:t>
            </a:r>
            <a:r>
              <a:rPr lang="en-US" dirty="0" err="1"/>
              <a:t>Histórico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C7E034F-218C-4B41-82DB-10203BE0BC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</a:t>
            </a:r>
            <a:r>
              <a:rPr lang="pt-BR" dirty="0"/>
              <a:t>m o surgimento de novas nações modernas, o antissemitismo se tornou essencialmente nacionalista. Os judeus eram sempre vistos como estrangeiros e suspeitos (mesmo sendo nativos dos países que viviam).</a:t>
            </a:r>
          </a:p>
          <a:p>
            <a:r>
              <a:rPr lang="pt-BR" dirty="0"/>
              <a:t>O fato de os judeus terem assumido de forma natural suas responsabilidades apesar do ostracismo que lhes era imposto, e de terem ocupado posições eminentes nas esferas política, econômica e financeira, fazia com que fossem vistos como traidores, sempre a serviço de uma mística “conspiração judaica internacional” imaginada pelos antissemitas.</a:t>
            </a:r>
          </a:p>
        </p:txBody>
      </p:sp>
    </p:spTree>
    <p:extLst>
      <p:ext uri="{BB962C8B-B14F-4D97-AF65-F5344CB8AC3E}">
        <p14:creationId xmlns:p14="http://schemas.microsoft.com/office/powerpoint/2010/main" val="28446036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DC0D07-BCB5-48A5-B136-CF0599CEA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Contexto</a:t>
            </a:r>
            <a:r>
              <a:rPr lang="en-US" dirty="0"/>
              <a:t> </a:t>
            </a:r>
            <a:r>
              <a:rPr lang="en-US" dirty="0" err="1"/>
              <a:t>Histórico</a:t>
            </a:r>
            <a:r>
              <a:rPr lang="en-US" dirty="0"/>
              <a:t>	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95FD5C9-1F68-453E-93BE-AE2CA3980F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pt-BR" dirty="0"/>
              <a:t>o final do século XIX, a mentalidade evoluiu. O antissemitismo procurou embasamento científico para justificar a intolerância. Ele então se tornou racial: os judeus foram então definidos como uma “raça” de origens orientais misteriosas que não poderia ser absorvida pelos povos entre os quais se estabeleceram (principalmente aqueles que alegavam pertencer a uma raça ariana superior).</a:t>
            </a:r>
          </a:p>
        </p:txBody>
      </p:sp>
    </p:spTree>
    <p:extLst>
      <p:ext uri="{BB962C8B-B14F-4D97-AF65-F5344CB8AC3E}">
        <p14:creationId xmlns:p14="http://schemas.microsoft.com/office/powerpoint/2010/main" val="38166242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AD2C3B-14B5-4C4B-BFF6-8F7A48509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Contexto</a:t>
            </a:r>
            <a:r>
              <a:rPr lang="en-US" dirty="0"/>
              <a:t> </a:t>
            </a:r>
            <a:r>
              <a:rPr lang="en-US" dirty="0" err="1"/>
              <a:t>Histórico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936E4EF-D121-4BED-A3E6-D68D21D7B0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É </a:t>
            </a:r>
            <a:r>
              <a:rPr lang="en-US" dirty="0" err="1"/>
              <a:t>importante</a:t>
            </a:r>
            <a:r>
              <a:rPr lang="en-US" dirty="0"/>
              <a:t> </a:t>
            </a:r>
            <a:r>
              <a:rPr lang="en-US" dirty="0" err="1"/>
              <a:t>ressaltar</a:t>
            </a:r>
            <a:r>
              <a:rPr lang="en-US" dirty="0"/>
              <a:t> a </a:t>
            </a:r>
            <a:r>
              <a:rPr lang="en-US" dirty="0" err="1"/>
              <a:t>importância</a:t>
            </a:r>
            <a:r>
              <a:rPr lang="en-US" dirty="0"/>
              <a:t> da </a:t>
            </a:r>
            <a:r>
              <a:rPr lang="en-US" dirty="0" err="1"/>
              <a:t>Revolução</a:t>
            </a:r>
            <a:r>
              <a:rPr lang="en-US" dirty="0"/>
              <a:t> </a:t>
            </a:r>
            <a:r>
              <a:rPr lang="en-US" dirty="0" err="1"/>
              <a:t>Francesa</a:t>
            </a:r>
            <a:r>
              <a:rPr lang="en-US" dirty="0"/>
              <a:t>, que, pela </a:t>
            </a:r>
            <a:r>
              <a:rPr lang="en-US" dirty="0" err="1"/>
              <a:t>primeira</a:t>
            </a:r>
            <a:r>
              <a:rPr lang="en-US" dirty="0"/>
              <a:t> </a:t>
            </a:r>
            <a:r>
              <a:rPr lang="en-US" dirty="0" err="1"/>
              <a:t>vez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história</a:t>
            </a:r>
            <a:r>
              <a:rPr lang="en-US" dirty="0"/>
              <a:t>, </a:t>
            </a:r>
            <a:r>
              <a:rPr lang="en-US" dirty="0" err="1"/>
              <a:t>em</a:t>
            </a:r>
            <a:r>
              <a:rPr lang="en-US" dirty="0"/>
              <a:t> 1791, </a:t>
            </a:r>
            <a:r>
              <a:rPr lang="en-US" dirty="0" err="1"/>
              <a:t>proclamou</a:t>
            </a:r>
            <a:r>
              <a:rPr lang="en-US" dirty="0"/>
              <a:t> que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judeus</a:t>
            </a:r>
            <a:r>
              <a:rPr lang="en-US" dirty="0"/>
              <a:t> </a:t>
            </a:r>
            <a:r>
              <a:rPr lang="en-US" dirty="0" err="1"/>
              <a:t>residentes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França</a:t>
            </a:r>
            <a:r>
              <a:rPr lang="en-US" dirty="0"/>
              <a:t> </a:t>
            </a:r>
            <a:r>
              <a:rPr lang="en-US" dirty="0" err="1"/>
              <a:t>seriam</a:t>
            </a:r>
            <a:r>
              <a:rPr lang="en-US" dirty="0"/>
              <a:t> </a:t>
            </a:r>
            <a:r>
              <a:rPr lang="en-US" dirty="0" err="1"/>
              <a:t>considerados</a:t>
            </a:r>
            <a:r>
              <a:rPr lang="en-US" dirty="0"/>
              <a:t> </a:t>
            </a:r>
            <a:r>
              <a:rPr lang="en-US" dirty="0" err="1"/>
              <a:t>cidadãos</a:t>
            </a:r>
            <a:r>
              <a:rPr lang="en-US" dirty="0"/>
              <a:t> </a:t>
            </a:r>
            <a:r>
              <a:rPr lang="en-US" dirty="0" err="1"/>
              <a:t>franceses</a:t>
            </a:r>
            <a:r>
              <a:rPr lang="en-US" dirty="0"/>
              <a:t> </a:t>
            </a:r>
            <a:r>
              <a:rPr lang="en-US" dirty="0" err="1"/>
              <a:t>plenos</a:t>
            </a:r>
            <a:r>
              <a:rPr lang="en-US" dirty="0"/>
              <a:t>.</a:t>
            </a:r>
          </a:p>
        </p:txBody>
      </p:sp>
      <p:pic>
        <p:nvPicPr>
          <p:cNvPr id="3074" name="Picture 2" descr="Revolução Francesa: etapas, causas e consequências | Politize!">
            <a:extLst>
              <a:ext uri="{FF2B5EF4-FFF2-40B4-BE49-F238E27FC236}">
                <a16:creationId xmlns:a16="http://schemas.microsoft.com/office/drawing/2014/main" id="{A57906BD-9FFF-4AEC-87BA-91D659D2B4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4442" y="3264505"/>
            <a:ext cx="5904940" cy="29693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95023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54FD1A-2735-494C-820E-382D27190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Nazismo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E74FA8C-2798-42B7-A64D-02F4E5DE30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</a:t>
            </a:r>
            <a:r>
              <a:rPr lang="pt-BR" dirty="0"/>
              <a:t> Nazismo foi um movimento ideológico e político de extrema direita, baseado no nacionalismo, imperialismo e belicismo (favorável à guerra). Baseado no fascismo italiano de Mussolini, o nazismo foi idealizado em 1929 e liderado de 1933 à 1945 por Adolf Hitler.</a:t>
            </a:r>
          </a:p>
        </p:txBody>
      </p:sp>
      <p:pic>
        <p:nvPicPr>
          <p:cNvPr id="4098" name="Picture 2" descr="O nazismo era de esquerda ou de direita? - Brasil Escola">
            <a:extLst>
              <a:ext uri="{FF2B5EF4-FFF2-40B4-BE49-F238E27FC236}">
                <a16:creationId xmlns:a16="http://schemas.microsoft.com/office/drawing/2014/main" id="{753AC315-957E-4A50-9EB7-12BD2164F4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5417" y="3578086"/>
            <a:ext cx="4117039" cy="2833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56956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54FD1A-2735-494C-820E-382D27190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Nazismo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E74FA8C-2798-42B7-A64D-02F4E5DE30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Um</a:t>
            </a:r>
            <a:r>
              <a:rPr lang="pt-BR" dirty="0"/>
              <a:t>a série de simbologias foram marcadas para sempre pelo Nazismo alemão, como a suástica já citada; a insígnia do </a:t>
            </a:r>
            <a:r>
              <a:rPr lang="pt-BR" dirty="0" err="1"/>
              <a:t>Schutzstaffel</a:t>
            </a:r>
            <a:r>
              <a:rPr lang="pt-BR" dirty="0"/>
              <a:t>, símbolo da SS – forças especiais designadas para proteger Hitler e outros líderes de partido; o </a:t>
            </a:r>
            <a:r>
              <a:rPr lang="pt-BR" dirty="0" err="1"/>
              <a:t>Totenkopf</a:t>
            </a:r>
            <a:r>
              <a:rPr lang="pt-BR" dirty="0"/>
              <a:t>, que traduz literalmente para “caveira” ou “cabeça do morto”, utilizada nos campos de concentração por seus agentes; e muitas outras figuras que viraram sinônimo de ódio e intolerância por conta do Nazismo.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59B47A15-9427-4704-9BF2-11873A7F55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2043" y="4427544"/>
            <a:ext cx="1684869" cy="1684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Schutzstaffel – Wikipédia, a enciclopédia livre">
            <a:extLst>
              <a:ext uri="{FF2B5EF4-FFF2-40B4-BE49-F238E27FC236}">
                <a16:creationId xmlns:a16="http://schemas.microsoft.com/office/drawing/2014/main" id="{75019B4D-C0D1-4C3C-87E4-1858305AB2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1111" y="4471151"/>
            <a:ext cx="2511796" cy="1673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>
            <a:extLst>
              <a:ext uri="{FF2B5EF4-FFF2-40B4-BE49-F238E27FC236}">
                <a16:creationId xmlns:a16="http://schemas.microsoft.com/office/drawing/2014/main" id="{A49E3492-085A-4B14-B56C-CD5B1C5B33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2763" y="4427544"/>
            <a:ext cx="1851992" cy="1760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679471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54FD1A-2735-494C-820E-382D27190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Nazismo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E74FA8C-2798-42B7-A64D-02F4E5DE30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 </a:t>
            </a:r>
            <a:r>
              <a:rPr lang="en-US" dirty="0" err="1"/>
              <a:t>movimento</a:t>
            </a:r>
            <a:r>
              <a:rPr lang="en-US" dirty="0"/>
              <a:t> </a:t>
            </a:r>
            <a:r>
              <a:rPr lang="en-US" dirty="0" err="1"/>
              <a:t>nazista</a:t>
            </a:r>
            <a:r>
              <a:rPr lang="en-US" dirty="0"/>
              <a:t> </a:t>
            </a:r>
            <a:r>
              <a:rPr lang="en-US" dirty="0" err="1"/>
              <a:t>consistia</a:t>
            </a:r>
            <a:r>
              <a:rPr lang="en-US" dirty="0"/>
              <a:t> de um conjunto de dogmas e </a:t>
            </a:r>
            <a:r>
              <a:rPr lang="en-US" dirty="0" err="1"/>
              <a:t>preconceitos</a:t>
            </a:r>
            <a:r>
              <a:rPr lang="en-US" dirty="0"/>
              <a:t> a </a:t>
            </a:r>
            <a:r>
              <a:rPr lang="en-US" dirty="0" err="1"/>
              <a:t>respeito</a:t>
            </a:r>
            <a:r>
              <a:rPr lang="en-US" dirty="0"/>
              <a:t> da </a:t>
            </a:r>
            <a:r>
              <a:rPr lang="en-US" dirty="0" err="1"/>
              <a:t>suposta</a:t>
            </a:r>
            <a:r>
              <a:rPr lang="en-US" dirty="0"/>
              <a:t> </a:t>
            </a:r>
            <a:r>
              <a:rPr lang="en-US" dirty="0" err="1"/>
              <a:t>superioridade</a:t>
            </a:r>
            <a:r>
              <a:rPr lang="en-US" dirty="0"/>
              <a:t> dos </a:t>
            </a:r>
            <a:r>
              <a:rPr lang="en-US" dirty="0" err="1"/>
              <a:t>arianos</a:t>
            </a:r>
            <a:r>
              <a:rPr lang="en-US" dirty="0"/>
              <a:t>. </a:t>
            </a:r>
            <a:r>
              <a:rPr lang="en-US" dirty="0" err="1"/>
              <a:t>Os</a:t>
            </a:r>
            <a:r>
              <a:rPr lang="pt-BR" dirty="0"/>
              <a:t> nazistas acreditavam ser superiores a diversos grupos não-arianos, em especial, os judeus.</a:t>
            </a:r>
          </a:p>
          <a:p>
            <a:r>
              <a:rPr lang="pt-BR" dirty="0"/>
              <a:t>A princípio, a ideia do nazismo não era nova na sociedade alemã, tendo outros movimentos anteriores que se baseavam no extremo nacionalismo e preconceitos sob a pretensão de criar uma sociedade militarista e reacionária. Outros grupos antissemitas existiam na Alemanha e Áustria a, pelo menos, um século quando o nazismo subiu ao poder.</a:t>
            </a:r>
          </a:p>
        </p:txBody>
      </p:sp>
    </p:spTree>
    <p:extLst>
      <p:ext uri="{BB962C8B-B14F-4D97-AF65-F5344CB8AC3E}">
        <p14:creationId xmlns:p14="http://schemas.microsoft.com/office/powerpoint/2010/main" val="31906835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54FD1A-2735-494C-820E-382D27190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Nazismo</a:t>
            </a:r>
            <a:r>
              <a:rPr lang="en-US" dirty="0"/>
              <a:t> (</a:t>
            </a:r>
            <a:r>
              <a:rPr lang="en-US" dirty="0" err="1"/>
              <a:t>Origem</a:t>
            </a:r>
            <a:r>
              <a:rPr lang="en-US" dirty="0"/>
              <a:t>)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E74FA8C-2798-42B7-A64D-02F4E5DE30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 origem do nazismo pode ser levada de volta até 1919, quando Hitler se afiliou ao “Partido Trabalhista Alemão”, aonde falava sobre anulação dos  tratados de paz, bem-estar da população e exclusão de judeus da sociedade. Hitler, pela sua grande capacidade oratória, rapidamente subiu pelo Partido e se tornou uma de suas principais figuras, contribuindo para a mudança de nome para “Partido Nacional-Socialista dos Trabalhadores Alemães”, ou “Nazi”.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234EEF50-6B43-4124-840F-3915F9FBAD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1647" y="4263887"/>
            <a:ext cx="2090530" cy="2090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32257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C8415A-EC22-4E42-AF3F-0E58ED4A5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Nazismo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1F14245-62B8-4E0C-A810-27A11CA100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</a:t>
            </a:r>
            <a:r>
              <a:rPr lang="pt-BR" dirty="0"/>
              <a:t>m 1921, Hitler torna-se líder do partido. Em 1923, após uma falha tentativa de golpe em Munique, Hitler foi preso, permitindo que começasse a escrever o Mein Kampf (Minha luta). Nos textos desse partido, Hitler já mostrava ideias totalitárias, racistas, antimarxistas (por Marx ser judeu), anticapitalistas e nacionalistas. </a:t>
            </a:r>
          </a:p>
        </p:txBody>
      </p:sp>
    </p:spTree>
    <p:extLst>
      <p:ext uri="{BB962C8B-B14F-4D97-AF65-F5344CB8AC3E}">
        <p14:creationId xmlns:p14="http://schemas.microsoft.com/office/powerpoint/2010/main" val="39761709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015D86-6BF6-4E6C-B98B-D60CF97EC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Nazismo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1C5234B-A8C0-462A-AE66-E31B56C1E0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</a:t>
            </a:r>
            <a:r>
              <a:rPr lang="pt-BR" dirty="0"/>
              <a:t>om a crise de 1929, a população burguesa alemã temia o crescimento do “Partido Comunista Alemão”, dando assim cada vez mais poder ao “Partido Nazista”, recém-criado. Em 1932, empresas capitalistas começaram a financiar o partido, e neste ano, muitos nazistas foram eleitos.</a:t>
            </a:r>
          </a:p>
          <a:p>
            <a:r>
              <a:rPr lang="pt-BR" dirty="0"/>
              <a:t>Em 1933, o presidente alemão Hindenburg nomeou Hitler como seu chanceler,  e um ano depois, quando Hindenburg morreu, Hitler passou a ocupar ambos os cargos de presidente e chanceler e se autoproclamou Führer, que se traduz para “líder” ou “condutor”.</a:t>
            </a:r>
          </a:p>
        </p:txBody>
      </p:sp>
    </p:spTree>
    <p:extLst>
      <p:ext uri="{BB962C8B-B14F-4D97-AF65-F5344CB8AC3E}">
        <p14:creationId xmlns:p14="http://schemas.microsoft.com/office/powerpoint/2010/main" val="19563822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6231B5-AC8E-4BE2-997B-68BB54E4A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Nazismo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41697C2-C107-4C56-9606-55EDE74073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080591"/>
            <a:ext cx="8915400" cy="3777622"/>
          </a:xfrm>
        </p:spPr>
        <p:txBody>
          <a:bodyPr/>
          <a:lstStyle/>
          <a:p>
            <a:r>
              <a:rPr lang="en-US" dirty="0"/>
              <a:t>D</a:t>
            </a:r>
            <a:r>
              <a:rPr lang="pt-BR" dirty="0"/>
              <a:t>essa forma, começou o Terceiro Reich, a ditadura Nazista.</a:t>
            </a:r>
          </a:p>
          <a:p>
            <a:r>
              <a:rPr lang="pt-BR" dirty="0"/>
              <a:t>O Holocausto foi o genocídio de judeus, ciganos homossexuais, e opositores políticos que ocorreu durante o período da Segunda Guerra Mundial na Alemanha, tendo matado mais de 6 milhões de Judeus. Os Judeus referem-se ao evento como ‘Shoah’, que se traduz para “destruição” em hebraico.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0418639-B7FC-4EE3-A31C-6C0A359FF7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1912" y="3969402"/>
            <a:ext cx="3810000" cy="2782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68617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3E4389-3685-414C-98B4-DB8187E3E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Nazismo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A0C2311-D95D-4429-96B7-55A50BDB28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Um dos discursos mais comuns utilizados pelos Nazistas era o de que os Judeus possuíam um plano de dominação mundial e afirmavam que tanto o liberalismo econômico quanto o capitalismo financeiro eram dominados pelos judeus. </a:t>
            </a:r>
          </a:p>
          <a:p>
            <a:r>
              <a:rPr lang="pt-BR" dirty="0"/>
              <a:t>Um dos exemplos claros dessa ideia foi um livro de origem russa e autor desconhecido chamado “Os protocolos dos sábios de Sião”, e acreditavam que os judeus eram a causa da derrota na Primeira Guerra Mundial, pela “teoria da apunhalada nas costas”, uma lenda onde os revolucionários, democratas, comunistas e socialistas teriam enfraquecido as forças militares alemãs para desestabilizarem a monarquia presente na época</a:t>
            </a:r>
          </a:p>
        </p:txBody>
      </p:sp>
    </p:spTree>
    <p:extLst>
      <p:ext uri="{BB962C8B-B14F-4D97-AF65-F5344CB8AC3E}">
        <p14:creationId xmlns:p14="http://schemas.microsoft.com/office/powerpoint/2010/main" val="41190326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6B4EFB-16E9-467A-AC95-37786B01C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Nazismo</a:t>
            </a:r>
            <a:r>
              <a:rPr lang="en-US" dirty="0"/>
              <a:t> (Leis de Nuremberg)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18875B7-9569-47F1-B26C-14F8325BC4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Na década de 1930, duas grandes ações contra os judeus marcaram o antissemitismo na Alemanha, as Leis de Nuremberg e a Noite dos Cristais.</a:t>
            </a:r>
          </a:p>
          <a:p>
            <a:r>
              <a:rPr lang="pt-BR" dirty="0"/>
              <a:t>As leis de Nuremberg foram três leis aprovadas em 1935, que legislavam a miscigenação, a bandeira alemã e a cidadania. Duas das leis se relacionavam diretamente com o antissemitismo, sendo essas a Lei de Proteção do Sangue e da Honra alemã, e a Lei de Cidadania do Reich.</a:t>
            </a:r>
          </a:p>
        </p:txBody>
      </p:sp>
      <p:pic>
        <p:nvPicPr>
          <p:cNvPr id="2050" name="Picture 2" descr="As Leis Raciais de Nuremberg | Enciclopédia do Holocausto">
            <a:extLst>
              <a:ext uri="{FF2B5EF4-FFF2-40B4-BE49-F238E27FC236}">
                <a16:creationId xmlns:a16="http://schemas.microsoft.com/office/drawing/2014/main" id="{1FDD0B15-9BB6-4035-A579-E68D4DBB0F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4735" y="4022411"/>
            <a:ext cx="3904353" cy="2610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70667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6B4EFB-16E9-467A-AC95-37786B01C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Nazismo</a:t>
            </a:r>
            <a:r>
              <a:rPr lang="en-US" dirty="0"/>
              <a:t> (Leis de Nuremberg)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18875B7-9569-47F1-B26C-14F8325BC4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pt-BR" dirty="0"/>
              <a:t> primeira lei proibia que judeus e não-judeus se relacionassem ou casassem. Essa lei também falava que judeus não poderiam ter empregadas domésticas com idade inferior a 45 anos, nem portar as cores do Reich (preto, vermelho e branco).</a:t>
            </a:r>
          </a:p>
          <a:p>
            <a:r>
              <a:rPr lang="pt-BR" dirty="0"/>
              <a:t>A segunda lei definia quem poderia ser considerado ou não cidadão. Segundo esta lei, se tivesse 3/4 de sangue judeu ou praticasse o judaísmo, seria considerado um judeu, e portanto, não seria considerado cidadão.</a:t>
            </a:r>
          </a:p>
        </p:txBody>
      </p:sp>
    </p:spTree>
    <p:extLst>
      <p:ext uri="{BB962C8B-B14F-4D97-AF65-F5344CB8AC3E}">
        <p14:creationId xmlns:p14="http://schemas.microsoft.com/office/powerpoint/2010/main" val="11596981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42A6DE-01FF-4972-8B58-3B8BE7B58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Nazismo</a:t>
            </a:r>
            <a:r>
              <a:rPr lang="en-US" dirty="0"/>
              <a:t> (</a:t>
            </a:r>
            <a:r>
              <a:rPr lang="en-US" dirty="0" err="1"/>
              <a:t>Noite</a:t>
            </a:r>
            <a:r>
              <a:rPr lang="en-US" dirty="0"/>
              <a:t> dos </a:t>
            </a:r>
            <a:r>
              <a:rPr lang="en-US" dirty="0" err="1"/>
              <a:t>Cristais</a:t>
            </a:r>
            <a:r>
              <a:rPr lang="en-US" dirty="0"/>
              <a:t>)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D4C52C9-E741-4038-97C8-5746EF2C13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pt-BR" dirty="0"/>
              <a:t> Noite dos Cristais foi um marco na história do antissemitismo porque oficializou um ponto de partida para o aumento da violência contra os judeus na Alemanha. Esse acontecimento passou-se em 1938, e é considerado um ‘pogrom’, isto é, um ataque violento que é organizado contra um grupo específico.</a:t>
            </a:r>
          </a:p>
          <a:p>
            <a:r>
              <a:rPr lang="pt-BR" dirty="0"/>
              <a:t>Este ataque aconteceu em represália ao assassinato de Ernst </a:t>
            </a:r>
            <a:r>
              <a:rPr lang="pt-BR" dirty="0" err="1"/>
              <a:t>vom</a:t>
            </a:r>
            <a:r>
              <a:rPr lang="pt-BR" dirty="0"/>
              <a:t> </a:t>
            </a:r>
            <a:r>
              <a:rPr lang="pt-BR" dirty="0" err="1"/>
              <a:t>Rath</a:t>
            </a:r>
            <a:r>
              <a:rPr lang="pt-BR" dirty="0"/>
              <a:t>, um diplomata alemão, por um estudante judeu de 17 anos que queria vingar-se da expulsão de seus pais da Alemanha.</a:t>
            </a:r>
          </a:p>
        </p:txBody>
      </p:sp>
    </p:spTree>
    <p:extLst>
      <p:ext uri="{BB962C8B-B14F-4D97-AF65-F5344CB8AC3E}">
        <p14:creationId xmlns:p14="http://schemas.microsoft.com/office/powerpoint/2010/main" val="15067065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42A6DE-01FF-4972-8B58-3B8BE7B58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Nazismo</a:t>
            </a:r>
            <a:r>
              <a:rPr lang="en-US" dirty="0"/>
              <a:t> (</a:t>
            </a:r>
            <a:r>
              <a:rPr lang="en-US" dirty="0" err="1"/>
              <a:t>Noite</a:t>
            </a:r>
            <a:r>
              <a:rPr lang="en-US" dirty="0"/>
              <a:t> dos </a:t>
            </a:r>
            <a:r>
              <a:rPr lang="en-US" dirty="0" err="1"/>
              <a:t>Cristais</a:t>
            </a:r>
            <a:r>
              <a:rPr lang="en-US" dirty="0"/>
              <a:t>)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D4C52C9-E741-4038-97C8-5746EF2C13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</a:t>
            </a:r>
            <a:r>
              <a:rPr lang="pt-BR" dirty="0"/>
              <a:t>ias após o diplomata alemão ser atacado em Paris, uma ordem foi emitida por Hitler e Goebbels para que ações de violência fossem organizadas como forma de intimidar os judeus.</a:t>
            </a:r>
          </a:p>
          <a:p>
            <a:r>
              <a:rPr lang="pt-BR" dirty="0"/>
              <a:t>A Noite de Cristal, evento que marcou o início da violência pública aos judeus, se iniciou na noite de 9 de novembro de 1938 e estendeu-se até a metade do dia seguinte. Vários membros do partido Nazista partiram para um ato de violência. Casas, estabelecimentos, orfanatos e sinagogas foram atacadas com os agressores destruindo o que encontravam pela frente, agredindo as pessoas que estavam nesses locais e, por fim, incendiando as construções.</a:t>
            </a:r>
          </a:p>
        </p:txBody>
      </p:sp>
    </p:spTree>
    <p:extLst>
      <p:ext uri="{BB962C8B-B14F-4D97-AF65-F5344CB8AC3E}">
        <p14:creationId xmlns:p14="http://schemas.microsoft.com/office/powerpoint/2010/main" val="13687819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42A6DE-01FF-4972-8B58-3B8BE7B58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Nazismo</a:t>
            </a:r>
            <a:r>
              <a:rPr lang="en-US" dirty="0"/>
              <a:t> (</a:t>
            </a:r>
            <a:r>
              <a:rPr lang="en-US" dirty="0" err="1"/>
              <a:t>Noite</a:t>
            </a:r>
            <a:r>
              <a:rPr lang="en-US" dirty="0"/>
              <a:t> dos </a:t>
            </a:r>
            <a:r>
              <a:rPr lang="en-US" dirty="0" err="1"/>
              <a:t>Cristais</a:t>
            </a:r>
            <a:r>
              <a:rPr lang="en-US" dirty="0"/>
              <a:t>)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D4C52C9-E741-4038-97C8-5746EF2C13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Ao</a:t>
            </a:r>
            <a:r>
              <a:rPr lang="pt-BR" dirty="0"/>
              <a:t> fim do ataque, milhares de estabelecimentos foram destruídos, e, apesar do número oficial de mortos ser 91, especula-se que os mortos nesse ataque possam ter chegado à casa dos milhares.</a:t>
            </a:r>
          </a:p>
          <a:p>
            <a:r>
              <a:rPr lang="pt-BR" dirty="0"/>
              <a:t>A Noite dos Cristais também inaugurou o aprisionamento de judeus em campos de concentração, pois, durante o ataque, 30 mil judeus foram presos e enviados para </a:t>
            </a:r>
            <a:r>
              <a:rPr lang="pt-BR" dirty="0" err="1"/>
              <a:t>Dachau</a:t>
            </a:r>
            <a:r>
              <a:rPr lang="pt-BR" dirty="0"/>
              <a:t> (incialmente criado para prisão de inimigos políticos em 1930), Buchenwald (apesar de ser um campo de concentração para produção de armas, estima-se que houveram mais de 250 mil detentos, e mais de 50 mil mortes por fome, violência e doenças).</a:t>
            </a:r>
          </a:p>
        </p:txBody>
      </p:sp>
    </p:spTree>
    <p:extLst>
      <p:ext uri="{BB962C8B-B14F-4D97-AF65-F5344CB8AC3E}">
        <p14:creationId xmlns:p14="http://schemas.microsoft.com/office/powerpoint/2010/main" val="24141922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BF6E18-5EC3-4F91-A9F0-7614390E3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Nazismo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4B91F8E-84C1-47D0-AD88-F61CAA47BC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pt-BR" dirty="0"/>
              <a:t>pós o início da guerra, em 1939, foi iniciada a idealização da “Solução Final”, onde era discutido como pôr um ponto final na “questão judia” na Europa. As duas primeiras soluções foram deportar os judeus para a União Soviética, mas Stalin não os aceitou, ou deportá-los para Madagascar. De qualquer forma, o plano decidido foi o de extermínio, inicialmente idealizado por Hitler, e alterado ao decorrer da guerra por Reinhard </a:t>
            </a:r>
            <a:r>
              <a:rPr lang="pt-BR" dirty="0" err="1"/>
              <a:t>Heydrich</a:t>
            </a:r>
            <a:r>
              <a:rPr lang="pt-BR" dirty="0"/>
              <a:t> e Heinrich Himmler, ambos considerados “arquitetos” do Holocausto.</a:t>
            </a:r>
          </a:p>
        </p:txBody>
      </p:sp>
      <p:pic>
        <p:nvPicPr>
          <p:cNvPr id="3074" name="Picture 2" descr="Conheça Reinhard Heydrich, poderoso chefe de segurança do Partido Nazista ·  Alto Astral">
            <a:extLst>
              <a:ext uri="{FF2B5EF4-FFF2-40B4-BE49-F238E27FC236}">
                <a16:creationId xmlns:a16="http://schemas.microsoft.com/office/drawing/2014/main" id="{6999C138-0726-41E4-9089-845A8FBD91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4643" y="4452729"/>
            <a:ext cx="1517495" cy="2193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Heinrich Himmler – Wikipédia, a enciclopédia livre">
            <a:extLst>
              <a:ext uri="{FF2B5EF4-FFF2-40B4-BE49-F238E27FC236}">
                <a16:creationId xmlns:a16="http://schemas.microsoft.com/office/drawing/2014/main" id="{F50F949F-00FB-464C-90B3-CE907B2166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7633" y="4452729"/>
            <a:ext cx="1500741" cy="2193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2283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AAE40E-5C37-4A79-8C36-21B793CF0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Nazismo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ABFEF6F-3B2A-497E-A8C1-0C04E6926F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Apesar do aprisionamento de judeus em campos de concentração ter ocorrido tão cedo quanto 1930, estes lugares não foram projetados para o extermínio em massa como ocorreu durante a guerra. No início da guerra, os judeus eram agrupados em guetos, regiões segregadas do resto da sociedade, cercados por tropas nazistas, para que mais tarde fossem enviados aos campos de concentração.</a:t>
            </a:r>
          </a:p>
        </p:txBody>
      </p:sp>
      <p:pic>
        <p:nvPicPr>
          <p:cNvPr id="4098" name="Picture 2" descr="Campos de Concentração Nazistas - Toda Matéria">
            <a:extLst>
              <a:ext uri="{FF2B5EF4-FFF2-40B4-BE49-F238E27FC236}">
                <a16:creationId xmlns:a16="http://schemas.microsoft.com/office/drawing/2014/main" id="{32152E57-C60E-4D9A-A157-7D277425A0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9525" y="3897749"/>
            <a:ext cx="3914774" cy="2758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91106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5C11E7-F8AC-47B5-9453-9CFF25E68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Nazismo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889A5C9-1F8C-4508-A7B3-6DDD186561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</a:t>
            </a:r>
            <a:r>
              <a:rPr lang="pt-BR" dirty="0"/>
              <a:t>s primeiros judeus vítimas desse plano foram alvo dos </a:t>
            </a:r>
            <a:r>
              <a:rPr lang="pt-BR" dirty="0" err="1"/>
              <a:t>Einsatzgruppen</a:t>
            </a:r>
            <a:r>
              <a:rPr lang="pt-BR" dirty="0"/>
              <a:t>, os grupos de extermínio. Esses grupos de extermínio atuaram na Polônia, nos países bálticos e na parte do território soviético que os nazistas estavam ocupando. O objetivo deles era simples: promover a limpeza sistemática de judeus dessas áreas por meio de fuzilamentos.</a:t>
            </a:r>
          </a:p>
          <a:p>
            <a:r>
              <a:rPr lang="pt-BR" dirty="0"/>
              <a:t>Nesses extermínios, os judeus eram posicionados a frente de uma vala comum nus e eram fuzilados até que todos estivessem mortos.</a:t>
            </a:r>
          </a:p>
          <a:p>
            <a:r>
              <a:rPr lang="pt-BR" dirty="0"/>
              <a:t>Nas mãos desses grupos, foram registradas aproximadamente 200 mil mortes na Lituânia, Estônia, e Letônia.</a:t>
            </a:r>
          </a:p>
        </p:txBody>
      </p:sp>
    </p:spTree>
    <p:extLst>
      <p:ext uri="{BB962C8B-B14F-4D97-AF65-F5344CB8AC3E}">
        <p14:creationId xmlns:p14="http://schemas.microsoft.com/office/powerpoint/2010/main" val="19196391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D7E9B1-ACF6-420C-A973-EC79FC9AB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Nazismo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7AA3072-8C09-4CA9-A25C-BA56EC4579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pt-BR" dirty="0"/>
              <a:t>pesar dos números assustadores, esses grupos de extermínio eram considerados ineficientes pelos Nazistas, e a solução encontrada foi a câmara de gás, que, baseadas em um programa da Eutanásia, foram instaladas em campos de concentração e campos de extermínio, onde a mão de obra judia era utilizada ao máximo.</a:t>
            </a:r>
          </a:p>
        </p:txBody>
      </p:sp>
      <p:pic>
        <p:nvPicPr>
          <p:cNvPr id="5122" name="Picture 2" descr="Como funcionavam as terríveis 'Câmaras de Gás' Nazistas. - Medologia">
            <a:extLst>
              <a:ext uri="{FF2B5EF4-FFF2-40B4-BE49-F238E27FC236}">
                <a16:creationId xmlns:a16="http://schemas.microsoft.com/office/drawing/2014/main" id="{63391A68-A2B3-42F1-97AE-2BE25DD70D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2593" y="3720415"/>
            <a:ext cx="4168637" cy="29120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79168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CE7F72-7532-4FD4-B697-523F534F4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Nazismo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63439E3-98EE-438F-979B-3EC66EB87B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</a:t>
            </a:r>
            <a:r>
              <a:rPr lang="pt-BR" dirty="0"/>
              <a:t> número de mortes que ocorreram dentro dos campos de extermínio construídos pelos nazistas a partir do segundo semestre de 1941 é de aproximadamente 2.900.000, sendo o campo com maior mortes o campo de extermínio de </a:t>
            </a:r>
            <a:r>
              <a:rPr lang="pt-BR" dirty="0" err="1"/>
              <a:t>Auchwitz</a:t>
            </a:r>
            <a:r>
              <a:rPr lang="pt-BR" dirty="0"/>
              <a:t>. Todos esses campos localizavam-se na Polônia e utilizavam monóxido de carbono para matar suas vítimas asfixiadas.</a:t>
            </a:r>
          </a:p>
        </p:txBody>
      </p:sp>
      <p:pic>
        <p:nvPicPr>
          <p:cNvPr id="6146" name="Picture 2" descr="Grafite antissemita é encontrado em Auschwitz, diz museu | CNN Brasil">
            <a:extLst>
              <a:ext uri="{FF2B5EF4-FFF2-40B4-BE49-F238E27FC236}">
                <a16:creationId xmlns:a16="http://schemas.microsoft.com/office/drawing/2014/main" id="{B01C6AEC-F3A0-4E03-AFC0-7BADE05159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7699" y="3720548"/>
            <a:ext cx="2978426" cy="2978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10512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EDDAD0-00C1-4954-B929-4CCA6B5CB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Nazismo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31E0F91-9CA4-489B-9C7D-3BD8680050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</a:t>
            </a:r>
            <a:r>
              <a:rPr lang="pt-BR" dirty="0"/>
              <a:t>esses campos de concentração, os horrores que se destacaram foram: jornada de trabalho extenuante, péssimas condições de higiene, maus-tratos diários, falta de alimentação, experimentos médicos e muitos outros.</a:t>
            </a:r>
          </a:p>
          <a:p>
            <a:r>
              <a:rPr lang="pt-BR" dirty="0"/>
              <a:t>Os prisioneiros recebiam roupas insuficientes para o inverno, e, na maioria das vezes, elas eram recolhidas em abril, independentemente se o frio tivesse passado ou não.</a:t>
            </a:r>
          </a:p>
          <a:p>
            <a:r>
              <a:rPr lang="pt-BR" dirty="0"/>
              <a:t>Quando adoeciam, o tratamento oferecido era sempre insuficiente. </a:t>
            </a:r>
          </a:p>
        </p:txBody>
      </p:sp>
    </p:spTree>
    <p:extLst>
      <p:ext uri="{BB962C8B-B14F-4D97-AF65-F5344CB8AC3E}">
        <p14:creationId xmlns:p14="http://schemas.microsoft.com/office/powerpoint/2010/main" val="16496584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1E5859-AE4C-4418-A425-25E82511D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Nazismo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0D1007D-5615-4D2E-B56A-0D2DF27BF9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À</a:t>
            </a:r>
            <a:r>
              <a:rPr lang="pt-BR" dirty="0"/>
              <a:t> medida que os nazistas foram perdendo a Segunda Guerra Mundial, os prisioneiros desses campos foram sendo soltos. Quando suas posições no Leste Europeu eram ameaçadas, os nazistas intensificavam a velocidade das execuções nas câmaras de gás, além de tentar ocultar o genocídio, destruindo documentos e exumando corpos.</a:t>
            </a:r>
          </a:p>
          <a:p>
            <a:r>
              <a:rPr lang="pt-BR" dirty="0"/>
              <a:t>Após a rendição dos nazistas, muitos que atuaram diretamente no Holocausto foram julgados no Tribunal Internacional de Nuremberg e alguns foram condenados à morte por enforcamento ou prisão perpétua.</a:t>
            </a:r>
          </a:p>
        </p:txBody>
      </p:sp>
    </p:spTree>
    <p:extLst>
      <p:ext uri="{BB962C8B-B14F-4D97-AF65-F5344CB8AC3E}">
        <p14:creationId xmlns:p14="http://schemas.microsoft.com/office/powerpoint/2010/main" val="3570580625"/>
      </p:ext>
    </p:extLst>
  </p:cSld>
  <p:clrMapOvr>
    <a:masterClrMapping/>
  </p:clrMapOvr>
</p:sld>
</file>

<file path=ppt/theme/theme1.xml><?xml version="1.0" encoding="utf-8"?>
<a:theme xmlns:a="http://schemas.openxmlformats.org/drawingml/2006/main" name="Cacho">
  <a:themeElements>
    <a:clrScheme name="Laranja Vermelho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Cacho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acho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TM02892315[[fn=Cacho]]</Template>
  <TotalTime>832</TotalTime>
  <Words>2376</Words>
  <Application>Microsoft Office PowerPoint</Application>
  <PresentationFormat>Widescreen</PresentationFormat>
  <Paragraphs>79</Paragraphs>
  <Slides>30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30</vt:i4>
      </vt:variant>
    </vt:vector>
  </HeadingPairs>
  <TitlesOfParts>
    <vt:vector size="34" baseType="lpstr">
      <vt:lpstr>Arial</vt:lpstr>
      <vt:lpstr>Century Gothic</vt:lpstr>
      <vt:lpstr>Wingdings 3</vt:lpstr>
      <vt:lpstr>Cacho</vt:lpstr>
      <vt:lpstr>Antissemitismo</vt:lpstr>
      <vt:lpstr>Introdução</vt:lpstr>
      <vt:lpstr>Introdução</vt:lpstr>
      <vt:lpstr>Etimologia</vt:lpstr>
      <vt:lpstr>Etimologia</vt:lpstr>
      <vt:lpstr>Contexto Histórico</vt:lpstr>
      <vt:lpstr>Contexto Histórico</vt:lpstr>
      <vt:lpstr>Contexto Histórico</vt:lpstr>
      <vt:lpstr>Contexto Histórico </vt:lpstr>
      <vt:lpstr>Contexto Histórico</vt:lpstr>
      <vt:lpstr>Nazismo</vt:lpstr>
      <vt:lpstr>Nazismo</vt:lpstr>
      <vt:lpstr>Nazismo</vt:lpstr>
      <vt:lpstr>Nazismo (Origem)</vt:lpstr>
      <vt:lpstr>Nazismo</vt:lpstr>
      <vt:lpstr>Nazismo</vt:lpstr>
      <vt:lpstr>Nazismo</vt:lpstr>
      <vt:lpstr>Nazismo</vt:lpstr>
      <vt:lpstr>Nazismo (Leis de Nuremberg)</vt:lpstr>
      <vt:lpstr>Nazismo (Leis de Nuremberg)</vt:lpstr>
      <vt:lpstr>Nazismo (Noite dos Cristais)</vt:lpstr>
      <vt:lpstr>Nazismo (Noite dos Cristais)</vt:lpstr>
      <vt:lpstr>Nazismo (Noite dos Cristais)</vt:lpstr>
      <vt:lpstr>Nazismo</vt:lpstr>
      <vt:lpstr>Nazismo</vt:lpstr>
      <vt:lpstr>Nazismo</vt:lpstr>
      <vt:lpstr>Nazismo</vt:lpstr>
      <vt:lpstr>Nazismo</vt:lpstr>
      <vt:lpstr>Nazismo</vt:lpstr>
      <vt:lpstr>Nazismo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Antissemitismo</dc:title>
  <dc:creator>garyhost</dc:creator>
  <cp:lastModifiedBy>garyhost</cp:lastModifiedBy>
  <cp:revision>6</cp:revision>
  <dcterms:created xsi:type="dcterms:W3CDTF">2022-03-27T01:08:45Z</dcterms:created>
  <dcterms:modified xsi:type="dcterms:W3CDTF">2022-03-30T23:41:58Z</dcterms:modified>
</cp:coreProperties>
</file>